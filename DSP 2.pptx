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5"/>
  </p:handoutMasterIdLst>
  <p:sldIdLst>
    <p:sldId id="256" r:id="rId3"/>
    <p:sldId id="257" r:id="rId5"/>
    <p:sldId id="260" r:id="rId6"/>
    <p:sldId id="268" r:id="rId7"/>
    <p:sldId id="264" r:id="rId8"/>
    <p:sldId id="258" r:id="rId9"/>
    <p:sldId id="278" r:id="rId10"/>
    <p:sldId id="277" r:id="rId11"/>
    <p:sldId id="271" r:id="rId12"/>
    <p:sldId id="275" r:id="rId13"/>
    <p:sldId id="26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06" userDrawn="1">
          <p15:clr>
            <a:srgbClr val="A4A3A4"/>
          </p15:clr>
        </p15:guide>
        <p15:guide id="2" pos="380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1906"/>
        <p:guide pos="380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handoutMaster" Target="handoutMasters/handoutMaster1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1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1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21B2AA4F-B828-4D7C-AFD3-893933DAFCB4}" type="slidenum">
              <a:rPr lang="en-US" smtClean="0"/>
            </a:fld>
            <a:endParaRPr lang="en-US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/>
          </p:nvPr>
        </p:nvSpPr>
        <p:spPr/>
        <p:txBody>
          <a:bodyPr/>
          <a:p>
            <a:r>
              <a:rPr lang="en-US"/>
              <a:t>1</a:t>
            </a:r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21B2AA4F-B828-4D7C-AFD3-893933DAFCB4}" type="slidenum">
              <a:rPr lang="en-US" smtClean="0"/>
            </a:fld>
            <a:endParaRPr lang="en-US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/>
          </p:nvPr>
        </p:nvSpPr>
        <p:spPr/>
        <p:txBody>
          <a:bodyPr/>
          <a:p>
            <a:r>
              <a:rPr lang="en-US"/>
              <a:t>1</a:t>
            </a:r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21B2AA4F-B828-4D7C-AFD3-893933DAFCB4}" type="slidenum">
              <a:rPr lang="en-US" smtClean="0"/>
            </a:fld>
            <a:endParaRPr lang="en-US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/>
          </p:nvPr>
        </p:nvSpPr>
        <p:spPr/>
        <p:txBody>
          <a:bodyPr/>
          <a:p>
            <a:r>
              <a:rPr lang="en-US"/>
              <a:t>1</a:t>
            </a:r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21B2AA4F-B828-4D7C-AFD3-893933DAFCB4}" type="slidenum">
              <a:rPr lang="en-US" smtClean="0"/>
            </a:fld>
            <a:endParaRPr lang="en-US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/>
          </p:nvPr>
        </p:nvSpPr>
        <p:spPr/>
        <p:txBody>
          <a:bodyPr/>
          <a:p>
            <a:r>
              <a:rPr lang="en-US"/>
              <a:t>1</a:t>
            </a:r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21B2AA4F-B828-4D7C-AFD3-893933DAFCB4}" type="slidenum">
              <a:rPr lang="en-US" smtClean="0"/>
            </a:fld>
            <a:endParaRPr lang="en-US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/>
          </p:nvPr>
        </p:nvSpPr>
        <p:spPr/>
        <p:txBody>
          <a:bodyPr/>
          <a:p>
            <a:r>
              <a:rPr lang="en-US"/>
              <a:t>1</a:t>
            </a:r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21B2AA4F-B828-4D7C-AFD3-893933DAFCB4}" type="slidenum">
              <a:rPr lang="en-US" smtClean="0"/>
            </a:fld>
            <a:endParaRPr lang="en-US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/>
          </p:nvPr>
        </p:nvSpPr>
        <p:spPr/>
        <p:txBody>
          <a:bodyPr/>
          <a:p>
            <a:r>
              <a:rPr lang="en-US"/>
              <a:t>1</a:t>
            </a:r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21B2AA4F-B828-4D7C-AFD3-893933DAFCB4}" type="slidenum">
              <a:rPr lang="en-US" smtClean="0"/>
            </a:fld>
            <a:endParaRPr lang="en-US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/>
          </p:nvPr>
        </p:nvSpPr>
        <p:spPr/>
        <p:txBody>
          <a:bodyPr/>
          <a:p>
            <a:r>
              <a:rPr lang="en-US"/>
              <a:t>1</a:t>
            </a:r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21B2AA4F-B828-4D7C-AFD3-893933DAFCB4}" type="slidenum">
              <a:rPr lang="en-US" smtClean="0"/>
            </a:fld>
            <a:endParaRPr lang="en-US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/>
          </p:nvPr>
        </p:nvSpPr>
        <p:spPr/>
        <p:txBody>
          <a:bodyPr/>
          <a:p>
            <a:r>
              <a:rPr lang="en-US"/>
              <a:t>1</a:t>
            </a:r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21B2AA4F-B828-4D7C-AFD3-893933DAFCB4}" type="slidenum">
              <a:rPr lang="en-US" smtClean="0"/>
            </a:fld>
            <a:endParaRPr lang="en-US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/>
          </p:nvPr>
        </p:nvSpPr>
        <p:spPr/>
        <p:txBody>
          <a:bodyPr/>
          <a:p>
            <a:r>
              <a:rPr lang="en-US"/>
              <a:t>1</a:t>
            </a:r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21B2AA4F-B828-4D7C-AFD3-893933DAFCB4}" type="slidenum">
              <a:rPr lang="en-US" smtClean="0"/>
            </a:fld>
            <a:endParaRPr lang="en-US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/>
          </p:nvPr>
        </p:nvSpPr>
        <p:spPr/>
        <p:txBody>
          <a:bodyPr/>
          <a:p>
            <a:r>
              <a:rPr lang="en-US"/>
              <a:t>1</a:t>
            </a:r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GB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fld id="{21B2AA4F-B828-4D7C-AFD3-893933DAFCB4}" type="slidenum">
              <a:rPr lang="en-US" smtClean="0"/>
            </a:fld>
            <a:endParaRPr lang="en-US"/>
          </a:p>
        </p:txBody>
      </p:sp>
      <p:sp>
        <p:nvSpPr>
          <p:cNvPr id="5" name="Header Placeholder 4"/>
          <p:cNvSpPr>
            <a:spLocks noGrp="1"/>
          </p:cNvSpPr>
          <p:nvPr>
            <p:ph type="hdr" sz="quarter"/>
          </p:nvPr>
        </p:nvSpPr>
        <p:spPr/>
        <p:txBody>
          <a:bodyPr/>
          <a:p>
            <a:r>
              <a:rPr lang="en-US"/>
              <a:t>1</a:t>
            </a:r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160145" y="1773238"/>
            <a:ext cx="9144000" cy="1655762"/>
          </a:xfrm>
        </p:spPr>
        <p:txBody>
          <a:bodyPr>
            <a:noAutofit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4000" dirty="0">
                <a:solidFill>
                  <a:schemeClr val="tx1"/>
                </a:solidFill>
                <a:latin typeface="Times New Roman" panose="02020603050405020304" charset="0"/>
                <a:ea typeface="Calibri Light" panose="020F0302020204030204" pitchFamily="34" charset="-122"/>
                <a:cs typeface="Times New Roman" panose="02020603050405020304" charset="0"/>
                <a:sym typeface="+mn-ea"/>
              </a:rPr>
              <a:t>Detecting Cognitive States</a:t>
            </a:r>
            <a:endParaRPr lang="en-US" sz="40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  <a:p>
            <a:pPr marL="0" indent="0" algn="ctr">
              <a:lnSpc>
                <a:spcPct val="150000"/>
              </a:lnSpc>
              <a:buNone/>
            </a:pPr>
            <a:r>
              <a:rPr lang="en-US" sz="4000" dirty="0">
                <a:solidFill>
                  <a:schemeClr val="tx1"/>
                </a:solidFill>
                <a:latin typeface="Times New Roman" panose="02020603050405020304" charset="0"/>
                <a:ea typeface="Calibri Light" panose="020F0302020204030204" pitchFamily="34" charset="-122"/>
                <a:cs typeface="Times New Roman" panose="02020603050405020304" charset="0"/>
                <a:sym typeface="+mn-ea"/>
              </a:rPr>
              <a:t>from Degraded EEG Signals</a:t>
            </a:r>
            <a:endParaRPr lang="en-US" sz="4000" dirty="0">
              <a:solidFill>
                <a:schemeClr val="tx1"/>
              </a:solidFill>
              <a:latin typeface="Times New Roman" panose="02020603050405020304" charset="0"/>
              <a:ea typeface="Calibri Light" panose="020F0302020204030204" pitchFamily="34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1160145" y="4156710"/>
            <a:ext cx="609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EEG Signal Processing</a:t>
            </a:r>
            <a:endParaRPr lang="en-US" altLang="en-US" sz="2000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6442075" y="4156710"/>
            <a:ext cx="609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tx1">
                    <a:lumMod val="65000"/>
                    <a:lumOff val="35000"/>
                  </a:schemeClr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DEAP Dataset</a:t>
            </a:r>
            <a:endParaRPr lang="en-US" altLang="en-US" sz="2000" dirty="0">
              <a:solidFill>
                <a:schemeClr val="tx1">
                  <a:lumMod val="65000"/>
                  <a:lumOff val="35000"/>
                </a:schemeClr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141605" y="5282565"/>
            <a:ext cx="609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Asritha Madadi</a:t>
            </a:r>
            <a:endParaRPr lang="en-US" altLang="en-US" sz="2000" b="1" dirty="0">
              <a:solidFill>
                <a:schemeClr val="tx1"/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</p:txBody>
      </p:sp>
      <p:sp>
        <p:nvSpPr>
          <p:cNvPr id="9" name="Text Box 8"/>
          <p:cNvSpPr txBox="1"/>
          <p:nvPr/>
        </p:nvSpPr>
        <p:spPr>
          <a:xfrm>
            <a:off x="141605" y="5744210"/>
            <a:ext cx="609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buNone/>
            </a:pPr>
            <a:r>
              <a:rPr lang="en-US" altLang="en-GB" sz="2000" b="1" dirty="0">
                <a:solidFill>
                  <a:schemeClr val="tx1"/>
                </a:solidFill>
                <a:ea typeface="Calibri" panose="020F0502020204030204" pitchFamily="34" charset="-122"/>
                <a:cs typeface="+mn-lt"/>
                <a:sym typeface="+mn-ea"/>
              </a:rPr>
              <a:t>MSDS696_S71_Data Science Practicum 2</a:t>
            </a:r>
            <a:endParaRPr lang="en-US" altLang="en-GB" sz="1600" b="1" dirty="0">
              <a:solidFill>
                <a:schemeClr val="tx1"/>
              </a:solidFill>
              <a:ea typeface="Calibri" panose="020F0502020204030204" pitchFamily="34" charset="-122"/>
              <a:cs typeface="+mn-lt"/>
              <a:sym typeface="+mn-ea"/>
            </a:endParaRPr>
          </a:p>
        </p:txBody>
      </p:sp>
      <p:sp>
        <p:nvSpPr>
          <p:cNvPr id="10" name="Text Box 9"/>
          <p:cNvSpPr txBox="1"/>
          <p:nvPr/>
        </p:nvSpPr>
        <p:spPr>
          <a:xfrm>
            <a:off x="141605" y="6205538"/>
            <a:ext cx="5080000" cy="398780"/>
          </a:xfrm>
          <a:prstGeom prst="rect">
            <a:avLst/>
          </a:prstGeom>
        </p:spPr>
        <p:txBody>
          <a:bodyPr>
            <a:spAutoFit/>
          </a:bodyPr>
          <a:p>
            <a:r>
              <a:rPr sz="2000" b="1">
                <a:solidFill>
                  <a:schemeClr val="tx1"/>
                </a:solidFill>
                <a:latin typeface="Calibri" panose="020F0502020204030204" charset="0"/>
                <a:ea typeface="CIDFont"/>
                <a:cs typeface="Calibri" panose="020F0502020204030204" charset="0"/>
              </a:rPr>
              <a:t>Regis University</a:t>
            </a:r>
            <a:endParaRPr sz="2000" b="1">
              <a:solidFill>
                <a:schemeClr val="tx1"/>
              </a:solidFill>
              <a:latin typeface="Calibri" panose="020F0502020204030204" charset="0"/>
              <a:ea typeface="CIDFont"/>
              <a:cs typeface="Calibri" panose="020F0502020204030204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630555" y="614045"/>
            <a:ext cx="5971540" cy="835025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sz="2800" b="1" dirty="0">
                <a:solidFill>
                  <a:schemeClr val="tx1"/>
                </a:solidFill>
                <a:latin typeface="Times New Roman" panose="02020603050405020304" charset="0"/>
                <a:ea typeface="Calibri" panose="020F0502020204030204" pitchFamily="34" charset="-122"/>
                <a:cs typeface="Times New Roman" panose="02020603050405020304" charset="0"/>
                <a:sym typeface="+mn-ea"/>
              </a:rPr>
              <a:t>Why EEG Emotion Detection Matters</a:t>
            </a:r>
            <a:endParaRPr lang="en-US" altLang="en-GB" sz="2800" b="1" dirty="0">
              <a:solidFill>
                <a:schemeClr val="tx1"/>
              </a:solidFill>
              <a:latin typeface="Times New Roman" panose="02020603050405020304" charset="0"/>
              <a:ea typeface="Calibri" panose="020F0502020204030204" pitchFamily="34" charset="-122"/>
              <a:cs typeface="Times New Roman" panose="02020603050405020304" charset="0"/>
              <a:sym typeface="+mn-ea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1471295" y="1534160"/>
            <a:ext cx="9464675" cy="3594100"/>
          </a:xfrm>
          <a:prstGeom prst="rect">
            <a:avLst/>
          </a:prstGeom>
        </p:spPr>
        <p:txBody>
          <a:bodyPr>
            <a:noAutofit/>
          </a:bodyPr>
          <a:p>
            <a:pPr marL="342900" indent="-342900">
              <a:lnSpc>
                <a:spcPct val="20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The Noise Challenge:  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EEG corrupted by muscle noise, signal drift &amp; electrode failure,</a:t>
            </a: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indent="0">
              <a:lnSpc>
                <a:spcPct val="200000"/>
              </a:lnSpc>
              <a:buSzPct val="100000"/>
              <a:buFont typeface="Arial" panose="020B0604020202020204" pitchFamily="34" charset="0"/>
              <a:buNone/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      So Robustness to degraded signals is rarely tested.</a:t>
            </a: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  <a:p>
            <a:pPr marL="342900" indent="-342900">
              <a:lnSpc>
                <a:spcPct val="200000"/>
              </a:lnSpc>
              <a:buSzPct val="100000"/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Brain-Computer Interfaces (BCI): 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Translates brain signals into computer commands, Used in medical devices, gaming &amp; assistive tech.</a:t>
            </a: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charset="0"/>
              <a:ea typeface="Calibri" panose="020F0502020204030204" pitchFamily="34" charset="-122"/>
              <a:cs typeface="Calibri" panose="020F0502020204030204" pitchFamily="34" charset="-120"/>
              <a:sym typeface="+mn-ea"/>
            </a:endParaRPr>
          </a:p>
          <a:p>
            <a:pPr marL="342900" indent="-342900">
              <a:lnSpc>
                <a:spcPct val="200000"/>
              </a:lnSpc>
              <a:buSzPct val="100000"/>
              <a:buChar char="•"/>
            </a:pPr>
            <a:r>
              <a:rPr 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EEG is the Gold Standard: </a:t>
            </a: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Non-invasive, portable &amp; affordable (~$300)</a:t>
            </a: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indent="0">
              <a:lnSpc>
                <a:spcPct val="200000"/>
              </a:lnSpc>
              <a:buSzPct val="100000"/>
              <a:buNone/>
            </a:pPr>
            <a:r>
              <a:rPr 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      Captures millisecond-level brain dynamics.</a:t>
            </a: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342900" indent="-342900">
              <a:lnSpc>
                <a:spcPct val="200000"/>
              </a:lnSpc>
              <a:buSzPct val="100000"/>
              <a:buFont typeface="Arial" panose="020B0604020202020204" pitchFamily="34" charset="0"/>
              <a:buChar char="•"/>
            </a:pPr>
            <a:endParaRPr lang="en-US" sz="20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pPr marL="342900" indent="-342900">
              <a:lnSpc>
                <a:spcPct val="200000"/>
              </a:lnSpc>
              <a:buSzPct val="100000"/>
              <a:buFont typeface="Arial" panose="020B0604020202020204" pitchFamily="34" charset="0"/>
              <a:buChar char="•"/>
            </a:pPr>
            <a:endParaRPr lang="en-US" sz="2000" dirty="0"/>
          </a:p>
          <a:p>
            <a:pPr indent="0">
              <a:lnSpc>
                <a:spcPct val="200000"/>
              </a:lnSpc>
              <a:buSzPct val="100000"/>
              <a:buNone/>
            </a:pPr>
            <a:endParaRPr lang="en-US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altLang="en-GB" sz="20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650875" y="1048385"/>
            <a:ext cx="11273790" cy="1411605"/>
          </a:xfrm>
        </p:spPr>
        <p:txBody>
          <a:bodyPr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charset="0"/>
                <a:sym typeface="+mn-ea"/>
              </a:rPr>
              <a:t> </a:t>
            </a: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charset="0"/>
                <a:sym typeface="+mn-ea"/>
              </a:rPr>
              <a:t>Can EEG signals reliably detect cognitive states even when the signal is noisy, incomplete, or corrupted?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charset="0"/>
              <a:sym typeface="+mn-ea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1271270" y="2459990"/>
            <a:ext cx="7257415" cy="25533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>
              <a:lnSpc>
                <a:spcPct val="200000"/>
              </a:lnSpc>
              <a:buNone/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My Approach</a:t>
            </a:r>
            <a:endParaRPr lang="en-US" sz="2000" b="1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GB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charset="0"/>
                <a:sym typeface="+mn-ea"/>
              </a:rPr>
              <a:t>Build &amp; train 6 models on clean and degraded EEG signals.</a:t>
            </a:r>
            <a:endParaRPr lang="en-US" altLang="en-GB" sz="2000" dirty="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charset="0"/>
              <a:sym typeface="+mn-ea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GB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charset="0"/>
                <a:sym typeface="+mn-ea"/>
              </a:rPr>
              <a:t>Combine into a weighted ensemble .</a:t>
            </a:r>
            <a:endParaRPr lang="en-US" altLang="en-GB" sz="2000" dirty="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charset="0"/>
              <a:sym typeface="+mn-ea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GB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Calibri" panose="020F0502020204030204" charset="0"/>
                <a:sym typeface="+mn-ea"/>
              </a:rPr>
              <a:t>Test robustness under 4 real-world noise conditions.</a:t>
            </a:r>
            <a:endParaRPr lang="en-US" altLang="en-GB" sz="2000" dirty="0">
              <a:solidFill>
                <a:schemeClr val="tx1">
                  <a:lumMod val="85000"/>
                  <a:lumOff val="15000"/>
                </a:schemeClr>
              </a:solidFill>
              <a:latin typeface="Calibri" panose="020F0502020204030204" charset="0"/>
              <a:sym typeface="+mn-ea"/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401320" y="346710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8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Research Question</a:t>
            </a:r>
            <a:r>
              <a:rPr lang="en-US" b="1" dirty="0">
                <a:solidFill>
                  <a:schemeClr val="tx1">
                    <a:lumMod val="95000"/>
                    <a:lumOff val="5000"/>
                  </a:schemeClr>
                </a:solidFill>
                <a:latin typeface="Calibri" panose="020F0502020204030204" charset="0"/>
                <a:sym typeface="+mn-ea"/>
              </a:rPr>
              <a:t> </a:t>
            </a:r>
            <a:endParaRPr lang="en-GB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511810" y="523875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2800" b="1">
                <a:latin typeface="Times New Roman" panose="02020603050405020304" charset="0"/>
                <a:cs typeface="Times New Roman" panose="02020603050405020304" charset="0"/>
              </a:rPr>
              <a:t>DEAP Dataset</a:t>
            </a:r>
            <a:endParaRPr lang="en-US" altLang="en-GB" sz="28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570865" y="1045845"/>
            <a:ext cx="8876665" cy="312039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endParaRPr lang="en-US" altLang="en-GB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GB" sz="2000">
                <a:solidFill>
                  <a:schemeClr val="tx1"/>
                </a:solidFill>
              </a:rPr>
              <a:t>DEAP Dataset by Queen Mary University of London  </a:t>
            </a:r>
            <a:endParaRPr lang="en-US" altLang="en-GB" sz="2000">
              <a:solidFill>
                <a:schemeClr val="tx1"/>
              </a:solidFill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GB" sz="2000">
                <a:solidFill>
                  <a:schemeClr val="tx1"/>
                </a:solidFill>
              </a:rPr>
              <a:t>32 participants watched 40 1-minute  videos, EEG recorded at 128 Hz.</a:t>
            </a:r>
            <a:endParaRPr lang="en-US" altLang="en-GB" sz="2000">
              <a:solidFill>
                <a:schemeClr val="tx1"/>
              </a:solidFill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GB" sz="2000">
                <a:solidFill>
                  <a:schemeClr val="tx1"/>
                </a:solidFill>
              </a:rPr>
              <a:t>32 subjects, 40 trials, 32 channels --&gt; windowed into 38,400 segments</a:t>
            </a:r>
            <a:endParaRPr lang="en-US" altLang="en-GB" sz="2000">
              <a:solidFill>
                <a:schemeClr val="tx1"/>
              </a:solidFill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GB" sz="2000">
                <a:solidFill>
                  <a:schemeClr val="tx1"/>
                </a:solidFill>
              </a:rPr>
              <a:t>Arousal + Valence scores mapped to 4 states: Positive, Stressed, Fatigued, Calm.</a:t>
            </a:r>
            <a:endParaRPr lang="en-US" altLang="en-GB" sz="2000">
              <a:solidFill>
                <a:schemeClr val="tx1"/>
              </a:solidFill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en-GB">
              <a:solidFill>
                <a:schemeClr val="tx1"/>
              </a:solidFill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en-GB">
              <a:solidFill>
                <a:schemeClr val="tx1"/>
              </a:solidFill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511810" y="4392295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GB" sz="28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Russell's Circumplex Model</a:t>
            </a:r>
            <a:endParaRPr lang="en-US" altLang="en-GB" sz="28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422910" y="5050790"/>
            <a:ext cx="1052512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GB" sz="2000">
                <a:solidFill>
                  <a:schemeClr val="tx1"/>
                </a:solidFill>
                <a:sym typeface="+mn-ea"/>
              </a:rPr>
              <a:t>It's a psychological model that maps emotions onto two dimensions - arousal and valence.</a:t>
            </a:r>
            <a:endParaRPr lang="en-US" altLang="en-GB" sz="2000">
              <a:solidFill>
                <a:schemeClr val="tx1"/>
              </a:solidFill>
            </a:endParaRPr>
          </a:p>
          <a:p>
            <a:pPr>
              <a:lnSpc>
                <a:spcPct val="200000"/>
              </a:lnSpc>
            </a:pPr>
            <a:endParaRPr lang="en-US" altLang="en-GB" sz="2000">
              <a:solidFill>
                <a:schemeClr val="tx1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rcRect t="2795" r="65951" b="72907"/>
          <a:stretch>
            <a:fillRect/>
          </a:stretch>
        </p:blipFill>
        <p:spPr>
          <a:xfrm>
            <a:off x="66040" y="167005"/>
            <a:ext cx="5691505" cy="3516630"/>
          </a:xfrm>
          <a:prstGeom prst="rect">
            <a:avLst/>
          </a:prstGeom>
        </p:spPr>
      </p:pic>
      <p:sp>
        <p:nvSpPr>
          <p:cNvPr id="12" name="Text Box 11"/>
          <p:cNvSpPr txBox="1"/>
          <p:nvPr/>
        </p:nvSpPr>
        <p:spPr>
          <a:xfrm>
            <a:off x="182880" y="3683635"/>
            <a:ext cx="5170805" cy="2506345"/>
          </a:xfrm>
          <a:prstGeom prst="rect">
            <a:avLst/>
          </a:prstGeom>
        </p:spPr>
        <p:txBody>
          <a:bodyPr>
            <a:noAutofit/>
          </a:bodyPr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sz="2000"/>
              <a:t>Perfectly balanced </a:t>
            </a:r>
            <a:r>
              <a:rPr lang="en-US" sz="2000"/>
              <a:t>-</a:t>
            </a:r>
            <a:r>
              <a:rPr sz="2000"/>
              <a:t> 19,200 windows per class, no bias in training</a:t>
            </a:r>
            <a:r>
              <a:rPr lang="en-US" sz="2000"/>
              <a:t>.</a:t>
            </a:r>
            <a:r>
              <a:rPr sz="2000"/>
              <a:t>Equal split ensures the model learns both arousal states equally well</a:t>
            </a:r>
            <a:r>
              <a:rPr lang="en-US" sz="2000"/>
              <a:t>.</a:t>
            </a:r>
            <a:endParaRPr sz="2000"/>
          </a:p>
          <a:p>
            <a:pPr marL="342900" indent="-342900">
              <a:lnSpc>
                <a:spcPct val="200000"/>
              </a:lnSpc>
              <a:buFont typeface="Wingdings" panose="05000000000000000000" charset="0"/>
              <a:buChar char="Ø"/>
            </a:pPr>
            <a:endParaRPr lang="en-US" sz="2000">
              <a:sym typeface="+mn-ea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rcRect l="33593" t="27231" r="32389" b="49194"/>
          <a:stretch>
            <a:fillRect/>
          </a:stretch>
        </p:blipFill>
        <p:spPr>
          <a:xfrm>
            <a:off x="6029960" y="0"/>
            <a:ext cx="6041390" cy="3429635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5520055" y="3429000"/>
            <a:ext cx="5726430" cy="31381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>
                <a:sym typeface="+mn-ea"/>
              </a:rPr>
              <a:t>High Arousal consistently shows higher power across all 5 frequency bands</a:t>
            </a:r>
            <a:r>
              <a:rPr lang="en-US">
                <a:sym typeface="+mn-ea"/>
              </a:rPr>
              <a:t> &amp; </a:t>
            </a:r>
            <a:r>
              <a:rPr>
                <a:sym typeface="+mn-ea"/>
              </a:rPr>
              <a:t>Beta band shows the largest gap </a:t>
            </a:r>
            <a:r>
              <a:rPr lang="en-US">
                <a:sym typeface="+mn-ea"/>
              </a:rPr>
              <a:t>-</a:t>
            </a:r>
            <a:r>
              <a:rPr>
                <a:sym typeface="+mn-ea"/>
              </a:rPr>
              <a:t> known to be linked to active mental states</a:t>
            </a:r>
            <a:r>
              <a:rPr lang="en-US">
                <a:sym typeface="+mn-ea"/>
              </a:rPr>
              <a:t>.</a:t>
            </a:r>
            <a:endParaRPr>
              <a:solidFill>
                <a:schemeClr val="tx1"/>
              </a:solidFill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>
                <a:sym typeface="+mn-ea"/>
              </a:rPr>
              <a:t>This visible separation between classes is exactly why band power was chosen as the feature for </a:t>
            </a:r>
            <a:r>
              <a:rPr lang="en-US">
                <a:sym typeface="+mn-ea"/>
              </a:rPr>
              <a:t>ML Models.</a:t>
            </a:r>
            <a:endParaRPr lang="en-US">
              <a:sym typeface="+mn-ea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alt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 Box 25"/>
          <p:cNvSpPr txBox="1"/>
          <p:nvPr/>
        </p:nvSpPr>
        <p:spPr>
          <a:xfrm>
            <a:off x="519430" y="1953260"/>
            <a:ext cx="4430395" cy="2056130"/>
          </a:xfrm>
          <a:prstGeom prst="rect">
            <a:avLst/>
          </a:prstGeom>
        </p:spPr>
        <p:txBody>
          <a:bodyPr wrap="square">
            <a:noAutofit/>
          </a:bodyPr>
          <a:p>
            <a:pPr marL="0" indent="0" algn="l">
              <a:lnSpc>
                <a:spcPct val="150000"/>
              </a:lnSpc>
            </a:pPr>
            <a:r>
              <a:rPr sz="4000" b="1" i="0" cap="all">
                <a:solidFill>
                  <a:srgbClr val="1A1A0A"/>
                </a:solidFill>
                <a:latin typeface="Times New Roman" panose="02020603050405020304" charset="0"/>
                <a:ea typeface="Courier Prime"/>
                <a:cs typeface="Times New Roman" panose="02020603050405020304" charset="0"/>
              </a:rPr>
              <a:t>Architecture</a:t>
            </a:r>
            <a:endParaRPr sz="4000" b="1" i="0" cap="all">
              <a:solidFill>
                <a:srgbClr val="1A1A0A"/>
              </a:solidFill>
              <a:latin typeface="Times New Roman" panose="02020603050405020304" charset="0"/>
              <a:ea typeface="Courier Prime"/>
              <a:cs typeface="Times New Roman" panose="02020603050405020304" charset="0"/>
            </a:endParaRPr>
          </a:p>
        </p:txBody>
      </p:sp>
      <p:grpSp>
        <p:nvGrpSpPr>
          <p:cNvPr id="83" name="Group 82"/>
          <p:cNvGrpSpPr/>
          <p:nvPr/>
        </p:nvGrpSpPr>
        <p:grpSpPr>
          <a:xfrm>
            <a:off x="5704840" y="125095"/>
            <a:ext cx="5896728" cy="6273307"/>
            <a:chOff x="8311" y="382"/>
            <a:chExt cx="9286" cy="9879"/>
          </a:xfrm>
        </p:grpSpPr>
        <p:grpSp>
          <p:nvGrpSpPr>
            <p:cNvPr id="13" name="Group 12"/>
            <p:cNvGrpSpPr/>
            <p:nvPr/>
          </p:nvGrpSpPr>
          <p:grpSpPr>
            <a:xfrm>
              <a:off x="8312" y="382"/>
              <a:ext cx="9285" cy="9879"/>
              <a:chOff x="5530" y="344"/>
              <a:chExt cx="9434" cy="11925"/>
            </a:xfrm>
          </p:grpSpPr>
          <p:sp>
            <p:nvSpPr>
              <p:cNvPr id="14" name="Flowchart: Alternate Process 13"/>
              <p:cNvSpPr/>
              <p:nvPr/>
            </p:nvSpPr>
            <p:spPr>
              <a:xfrm>
                <a:off x="5530" y="6488"/>
                <a:ext cx="2750" cy="608"/>
              </a:xfrm>
              <a:prstGeom prst="flowChartAlternateProcess">
                <a:avLst/>
              </a:prstGeom>
              <a:solidFill>
                <a:schemeClr val="accent4">
                  <a:lumMod val="20000"/>
                  <a:lumOff val="80000"/>
                  <a:alpha val="21000"/>
                </a:schemeClr>
              </a:solidFill>
              <a:ln>
                <a:solidFill>
                  <a:schemeClr val="accent4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en-US" altLang="en-GB" sz="1600" b="1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  <a:p>
                <a:pPr algn="ctr"/>
                <a:r>
                  <a:rPr lang="en-US" altLang="en-GB" sz="1600" b="1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SVM</a:t>
                </a:r>
                <a:endParaRPr lang="en-US" altLang="en-GB" sz="1600" b="1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  <a:p>
                <a:pPr algn="ctr"/>
                <a:endParaRPr lang="en-US" altLang="en-GB" sz="1600">
                  <a:solidFill>
                    <a:schemeClr val="tx1">
                      <a:lumMod val="65000"/>
                      <a:lumOff val="35000"/>
                    </a:schemeClr>
                  </a:solidFill>
                  <a:cs typeface="+mn-lt"/>
                </a:endParaRPr>
              </a:p>
            </p:txBody>
          </p:sp>
          <p:sp>
            <p:nvSpPr>
              <p:cNvPr id="15" name="Flowchart: Alternate Process 14"/>
              <p:cNvSpPr/>
              <p:nvPr/>
            </p:nvSpPr>
            <p:spPr>
              <a:xfrm>
                <a:off x="11828" y="7189"/>
                <a:ext cx="3136" cy="914"/>
              </a:xfrm>
              <a:prstGeom prst="flowChartAlternateProcess">
                <a:avLst/>
              </a:prstGeom>
              <a:solidFill>
                <a:schemeClr val="accent4">
                  <a:lumMod val="20000"/>
                  <a:lumOff val="80000"/>
                  <a:alpha val="36000"/>
                </a:schemeClr>
              </a:solidFill>
              <a:ln>
                <a:solidFill>
                  <a:schemeClr val="accent4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en-GB" b="1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 Weighted</a:t>
                </a:r>
                <a:endParaRPr lang="en-US" altLang="en-GB" b="1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 useBgFill="1">
            <p:nvSpPr>
              <p:cNvPr id="16" name="Flowchart: Alternate Process 15"/>
              <p:cNvSpPr/>
              <p:nvPr/>
            </p:nvSpPr>
            <p:spPr>
              <a:xfrm>
                <a:off x="6821" y="344"/>
                <a:ext cx="6343" cy="819"/>
              </a:xfrm>
              <a:prstGeom prst="flowChartAlternateProcess">
                <a:avLst/>
              </a:prstGeom>
              <a:ln>
                <a:solidFill>
                  <a:schemeClr val="accent6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en-GB" sz="1600" b="1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Deap Dataset</a:t>
                </a:r>
                <a:endParaRPr lang="en-US" altLang="en-GB" sz="1600" b="1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  <a:p>
                <a:pPr algn="ctr"/>
                <a:r>
                  <a:rPr lang="en-US" altLang="en-GB" sz="160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32 subjects</a:t>
                </a:r>
                <a:r>
                  <a:rPr lang="en-US" altLang="en-GB" sz="1600">
                    <a:solidFill>
                      <a:schemeClr val="tx1"/>
                    </a:solidFill>
                  </a:rPr>
                  <a:t>  </a:t>
                </a:r>
                <a:r>
                  <a:rPr lang="en-US" altLang="en-GB" sz="160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.  40 trials .  128 Hz</a:t>
                </a:r>
                <a:endParaRPr lang="en-US" altLang="en-GB" sz="160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sp>
            <p:nvSpPr>
              <p:cNvPr id="18" name="Flowchart: Alternate Process 17"/>
              <p:cNvSpPr/>
              <p:nvPr/>
            </p:nvSpPr>
            <p:spPr>
              <a:xfrm>
                <a:off x="6820" y="1641"/>
                <a:ext cx="6344" cy="848"/>
              </a:xfrm>
              <a:prstGeom prst="flowChartAlternateProcess">
                <a:avLst/>
              </a:prstGeom>
              <a:solidFill>
                <a:schemeClr val="accent5">
                  <a:lumMod val="20000"/>
                  <a:lumOff val="80000"/>
                  <a:alpha val="31000"/>
                </a:schemeClr>
              </a:solidFill>
              <a:ln>
                <a:solidFill>
                  <a:schemeClr val="accent5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en-GB" sz="1600" b="1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Preprocessing</a:t>
                </a:r>
                <a:endParaRPr lang="en-US" altLang="en-GB" sz="1600" b="1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  <a:p>
                <a:pPr algn="ctr"/>
                <a:r>
                  <a:rPr lang="en-US" altLang="en-GB" sz="1600">
                    <a:solidFill>
                      <a:schemeClr val="tx1">
                        <a:lumMod val="50000"/>
                        <a:lumOff val="50000"/>
                      </a:schemeClr>
                    </a:solidFill>
                  </a:rPr>
                  <a:t>Bandpass   1-45  Hz  .  Z-score norm</a:t>
                </a:r>
                <a:endParaRPr lang="en-US" altLang="en-GB" sz="1600">
                  <a:solidFill>
                    <a:schemeClr val="tx1">
                      <a:lumMod val="50000"/>
                      <a:lumOff val="50000"/>
                    </a:schemeClr>
                  </a:solidFill>
                </a:endParaRPr>
              </a:p>
            </p:txBody>
          </p:sp>
          <p:sp>
            <p:nvSpPr>
              <p:cNvPr id="25" name="Flowchart: Alternate Process 24"/>
              <p:cNvSpPr/>
              <p:nvPr/>
            </p:nvSpPr>
            <p:spPr>
              <a:xfrm>
                <a:off x="6820" y="2967"/>
                <a:ext cx="6440" cy="897"/>
              </a:xfrm>
              <a:prstGeom prst="flowChartAlternateProcess">
                <a:avLst/>
              </a:prstGeom>
              <a:solidFill>
                <a:schemeClr val="accent4">
                  <a:lumMod val="20000"/>
                  <a:lumOff val="80000"/>
                  <a:alpha val="15000"/>
                </a:schemeClr>
              </a:solidFill>
              <a:ln>
                <a:solidFill>
                  <a:schemeClr val="accent4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en-GB" sz="1600" b="1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Windowing</a:t>
                </a:r>
                <a:endParaRPr lang="en-US" altLang="en-GB" sz="1600" b="1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  <a:p>
                <a:pPr algn="ctr"/>
                <a:r>
                  <a:rPr lang="en-US" altLang="en-GB" sz="160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4s  .  50%  overlap --&gt;  38,400  windows</a:t>
                </a:r>
                <a:endParaRPr lang="en-US" altLang="en-GB" sz="160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sp>
            <p:nvSpPr>
              <p:cNvPr id="28" name="Flowchart: Alternate Process 27"/>
              <p:cNvSpPr/>
              <p:nvPr/>
            </p:nvSpPr>
            <p:spPr>
              <a:xfrm>
                <a:off x="6876" y="4392"/>
                <a:ext cx="6440" cy="897"/>
              </a:xfrm>
              <a:prstGeom prst="flowChartAlternateProcess">
                <a:avLst/>
              </a:prstGeom>
              <a:solidFill>
                <a:schemeClr val="bg1">
                  <a:lumMod val="95000"/>
                  <a:alpha val="21000"/>
                </a:schemeClr>
              </a:solidFill>
              <a:ln>
                <a:solidFill>
                  <a:schemeClr val="bg1">
                    <a:lumMod val="85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en-GB" sz="1600" b="1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Feature Extraction</a:t>
                </a:r>
                <a:endParaRPr lang="en-US" altLang="en-GB" sz="1600" b="1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  <a:p>
                <a:pPr algn="ctr"/>
                <a:r>
                  <a:rPr lang="en-US" altLang="en-GB" sz="160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Band power  .   Matrix  .  Raw  EEG </a:t>
                </a:r>
                <a:endParaRPr lang="en-US" altLang="en-GB" sz="160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sp>
            <p:nvSpPr>
              <p:cNvPr id="29" name="Flowchart: Alternate Process 28"/>
              <p:cNvSpPr/>
              <p:nvPr/>
            </p:nvSpPr>
            <p:spPr>
              <a:xfrm>
                <a:off x="8916" y="6488"/>
                <a:ext cx="2468" cy="559"/>
              </a:xfrm>
              <a:prstGeom prst="flowChartAlternateProcess">
                <a:avLst/>
              </a:prstGeom>
              <a:solidFill>
                <a:schemeClr val="accent4">
                  <a:lumMod val="20000"/>
                  <a:lumOff val="80000"/>
                  <a:alpha val="15000"/>
                </a:schemeClr>
              </a:solidFill>
              <a:ln>
                <a:solidFill>
                  <a:schemeClr val="accent4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en-GB" b="1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CNN</a:t>
                </a:r>
                <a:r>
                  <a:rPr lang="en-US" altLang="en-GB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 </a:t>
                </a:r>
                <a:endParaRPr lang="en-US" altLang="en-GB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sp>
            <p:nvSpPr>
              <p:cNvPr id="30" name="Flowchart: Alternate Process 29"/>
              <p:cNvSpPr/>
              <p:nvPr/>
            </p:nvSpPr>
            <p:spPr>
              <a:xfrm>
                <a:off x="6905" y="9529"/>
                <a:ext cx="6496" cy="1085"/>
              </a:xfrm>
              <a:prstGeom prst="flowChartAlternateProcess">
                <a:avLst/>
              </a:prstGeom>
              <a:solidFill>
                <a:schemeClr val="accent2">
                  <a:lumMod val="20000"/>
                  <a:lumOff val="80000"/>
                  <a:alpha val="38000"/>
                </a:schemeClr>
              </a:solidFill>
              <a:ln>
                <a:solidFill>
                  <a:schemeClr val="accent2">
                    <a:lumMod val="60000"/>
                    <a:lumOff val="40000"/>
                  </a:schemeClr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en-GB" b="1">
                    <a:solidFill>
                      <a:schemeClr val="tx1"/>
                    </a:solidFill>
                  </a:rPr>
                  <a:t>Cognitive   State   Output</a:t>
                </a:r>
                <a:endParaRPr lang="en-US" altLang="en-GB" b="1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altLang="en-GB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Positive  .  Stressed   .  Fatigued  .  Calm</a:t>
                </a:r>
                <a:endParaRPr lang="en-US" altLang="en-GB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  <p:sp>
            <p:nvSpPr>
              <p:cNvPr id="32" name="Flowchart: Alternate Process 31"/>
              <p:cNvSpPr/>
              <p:nvPr/>
            </p:nvSpPr>
            <p:spPr>
              <a:xfrm>
                <a:off x="5530" y="11243"/>
                <a:ext cx="8860" cy="1026"/>
              </a:xfrm>
              <a:prstGeom prst="flowChartAlternateProcess">
                <a:avLst/>
              </a:prstGeom>
              <a:solidFill>
                <a:schemeClr val="bg1">
                  <a:lumMod val="95000"/>
                  <a:alpha val="0"/>
                </a:schemeClr>
              </a:solidFill>
              <a:ln w="12700" cmpd="sng">
                <a:solidFill>
                  <a:schemeClr val="accent1">
                    <a:shade val="50000"/>
                  </a:schemeClr>
                </a:solidFill>
                <a:prstDash val="solid"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en-GB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Robustness Testing  .  4 Degradation   Condition </a:t>
                </a:r>
                <a:endParaRPr lang="en-US" altLang="en-GB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p:grpSp>
        <p:sp>
          <p:nvSpPr>
            <p:cNvPr id="33" name="Flowchart: Alternate Process 32"/>
            <p:cNvSpPr/>
            <p:nvPr/>
          </p:nvSpPr>
          <p:spPr>
            <a:xfrm>
              <a:off x="8311" y="6123"/>
              <a:ext cx="2708" cy="542"/>
            </a:xfrm>
            <a:prstGeom prst="flowChartAlternateProcess">
              <a:avLst/>
            </a:prstGeom>
            <a:solidFill>
              <a:schemeClr val="accent4">
                <a:lumMod val="20000"/>
                <a:lumOff val="80000"/>
                <a:alpha val="34000"/>
              </a:schemeClr>
            </a:solidFill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en-GB" sz="1600">
                  <a:solidFill>
                    <a:schemeClr val="tx1">
                      <a:lumMod val="65000"/>
                      <a:lumOff val="35000"/>
                    </a:schemeClr>
                  </a:solidFill>
                  <a:cs typeface="+mn-lt"/>
                </a:rPr>
                <a:t>  </a:t>
              </a:r>
              <a:r>
                <a:rPr lang="en-US" altLang="en-GB" sz="1600" b="1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Random Forest</a:t>
              </a:r>
              <a:endParaRPr lang="en-US" altLang="en-GB" sz="1600">
                <a:solidFill>
                  <a:schemeClr val="tx1">
                    <a:lumMod val="65000"/>
                    <a:lumOff val="35000"/>
                  </a:schemeClr>
                </a:solidFill>
                <a:cs typeface="+mn-lt"/>
              </a:endParaRPr>
            </a:p>
          </p:txBody>
        </p:sp>
        <p:sp>
          <p:nvSpPr>
            <p:cNvPr id="34" name="Flowchart: Alternate Process 33"/>
            <p:cNvSpPr/>
            <p:nvPr/>
          </p:nvSpPr>
          <p:spPr>
            <a:xfrm>
              <a:off x="8312" y="6811"/>
              <a:ext cx="2708" cy="558"/>
            </a:xfrm>
            <a:prstGeom prst="flowChartAlternateProcess">
              <a:avLst/>
            </a:prstGeom>
            <a:solidFill>
              <a:schemeClr val="accent4">
                <a:lumMod val="20000"/>
                <a:lumOff val="80000"/>
                <a:alpha val="30000"/>
              </a:schemeClr>
            </a:solidFill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en-GB" sz="1600">
                  <a:solidFill>
                    <a:schemeClr val="tx1">
                      <a:lumMod val="65000"/>
                      <a:lumOff val="35000"/>
                    </a:schemeClr>
                  </a:solidFill>
                  <a:cs typeface="+mn-lt"/>
                </a:rPr>
                <a:t>    </a:t>
              </a:r>
              <a:r>
                <a:rPr lang="en-US" altLang="en-GB" sz="1600" b="1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LDA</a:t>
              </a:r>
              <a:endParaRPr lang="en-US" altLang="en-GB" sz="16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35" name="Flowchart: Alternate Process 34"/>
            <p:cNvSpPr/>
            <p:nvPr/>
          </p:nvSpPr>
          <p:spPr>
            <a:xfrm>
              <a:off x="11733" y="6155"/>
              <a:ext cx="2286" cy="508"/>
            </a:xfrm>
            <a:prstGeom prst="flowChartAlternateProcess">
              <a:avLst/>
            </a:prstGeom>
            <a:solidFill>
              <a:schemeClr val="accent4">
                <a:lumMod val="20000"/>
                <a:lumOff val="80000"/>
                <a:alpha val="26000"/>
              </a:schemeClr>
            </a:solidFill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en-GB" sz="1600" b="1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LSTM</a:t>
              </a:r>
              <a:endParaRPr lang="en-US" altLang="en-GB" sz="16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36" name="Flowchart: Alternate Process 35"/>
            <p:cNvSpPr/>
            <p:nvPr/>
          </p:nvSpPr>
          <p:spPr>
            <a:xfrm>
              <a:off x="11734" y="6856"/>
              <a:ext cx="2285" cy="521"/>
            </a:xfrm>
            <a:prstGeom prst="flowChartAlternateProcess">
              <a:avLst/>
            </a:prstGeom>
            <a:solidFill>
              <a:schemeClr val="accent4">
                <a:lumMod val="20000"/>
                <a:lumOff val="80000"/>
                <a:alpha val="46000"/>
              </a:schemeClr>
            </a:solidFill>
            <a:ln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en-GB" sz="1600" b="1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CNN-LSTM</a:t>
              </a:r>
              <a:endParaRPr lang="en-US" altLang="en-GB" sz="1600" b="1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37" name="Straight Arrow Connector 36"/>
            <p:cNvCxnSpPr>
              <a:stCxn id="16" idx="2"/>
              <a:endCxn id="18" idx="0"/>
            </p:cNvCxnSpPr>
            <p:nvPr/>
          </p:nvCxnSpPr>
          <p:spPr>
            <a:xfrm>
              <a:off x="12704" y="1060"/>
              <a:ext cx="0" cy="396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8" name="Straight Arrow Connector 37"/>
            <p:cNvCxnSpPr/>
            <p:nvPr/>
          </p:nvCxnSpPr>
          <p:spPr>
            <a:xfrm flipH="1">
              <a:off x="12697" y="2159"/>
              <a:ext cx="7" cy="357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39" name="Straight Arrow Connector 38"/>
            <p:cNvCxnSpPr>
              <a:stCxn id="25" idx="2"/>
            </p:cNvCxnSpPr>
            <p:nvPr/>
          </p:nvCxnSpPr>
          <p:spPr>
            <a:xfrm flipH="1">
              <a:off x="12747" y="3298"/>
              <a:ext cx="4" cy="413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>
              <a:off x="9637" y="4703"/>
              <a:ext cx="6358" cy="1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1" name="Straight Arrow Connector 40"/>
            <p:cNvCxnSpPr>
              <a:endCxn id="14" idx="0"/>
            </p:cNvCxnSpPr>
            <p:nvPr/>
          </p:nvCxnSpPr>
          <p:spPr>
            <a:xfrm>
              <a:off x="9658" y="4692"/>
              <a:ext cx="8" cy="780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3" name="Straight Arrow Connector 42"/>
            <p:cNvCxnSpPr/>
            <p:nvPr/>
          </p:nvCxnSpPr>
          <p:spPr>
            <a:xfrm>
              <a:off x="12802" y="4776"/>
              <a:ext cx="12" cy="721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>
              <a:stCxn id="28" idx="2"/>
            </p:cNvCxnSpPr>
            <p:nvPr/>
          </p:nvCxnSpPr>
          <p:spPr>
            <a:xfrm flipH="1">
              <a:off x="12802" y="4479"/>
              <a:ext cx="4" cy="297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5" name="Straight Arrow Connector 44"/>
            <p:cNvCxnSpPr/>
            <p:nvPr/>
          </p:nvCxnSpPr>
          <p:spPr>
            <a:xfrm>
              <a:off x="15995" y="4720"/>
              <a:ext cx="39" cy="1279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>
              <a:stCxn id="14" idx="3"/>
            </p:cNvCxnSpPr>
            <p:nvPr/>
          </p:nvCxnSpPr>
          <p:spPr>
            <a:xfrm flipV="1">
              <a:off x="11019" y="5708"/>
              <a:ext cx="625" cy="16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>
              <a:stCxn id="33" idx="3"/>
              <a:endCxn id="35" idx="1"/>
            </p:cNvCxnSpPr>
            <p:nvPr/>
          </p:nvCxnSpPr>
          <p:spPr>
            <a:xfrm>
              <a:off x="11019" y="6394"/>
              <a:ext cx="714" cy="1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>
              <a:stCxn id="34" idx="3"/>
            </p:cNvCxnSpPr>
            <p:nvPr/>
          </p:nvCxnSpPr>
          <p:spPr>
            <a:xfrm>
              <a:off x="11020" y="7090"/>
              <a:ext cx="714" cy="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5" name="Elbow Connector 74"/>
            <p:cNvCxnSpPr>
              <a:stCxn id="29" idx="3"/>
            </p:cNvCxnSpPr>
            <p:nvPr/>
          </p:nvCxnSpPr>
          <p:spPr>
            <a:xfrm>
              <a:off x="14074" y="5703"/>
              <a:ext cx="192" cy="729"/>
            </a:xfrm>
            <a:prstGeom prst="bentConnector2">
              <a:avLst/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7" name="Elbow Connector 76"/>
            <p:cNvCxnSpPr>
              <a:stCxn id="36" idx="3"/>
            </p:cNvCxnSpPr>
            <p:nvPr/>
          </p:nvCxnSpPr>
          <p:spPr>
            <a:xfrm flipV="1">
              <a:off x="14019" y="6384"/>
              <a:ext cx="247" cy="733"/>
            </a:xfrm>
            <a:prstGeom prst="bentConnector2">
              <a:avLst/>
            </a:prstGeom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8" name="Straight Arrow Connector 77"/>
            <p:cNvCxnSpPr>
              <a:stCxn id="35" idx="3"/>
              <a:endCxn id="15" idx="1"/>
            </p:cNvCxnSpPr>
            <p:nvPr/>
          </p:nvCxnSpPr>
          <p:spPr>
            <a:xfrm>
              <a:off x="14019" y="6409"/>
              <a:ext cx="492" cy="23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79" name="Straight Arrow Connector 78"/>
            <p:cNvCxnSpPr>
              <a:stCxn id="36" idx="2"/>
              <a:endCxn id="30" idx="0"/>
            </p:cNvCxnSpPr>
            <p:nvPr/>
          </p:nvCxnSpPr>
          <p:spPr>
            <a:xfrm flipH="1">
              <a:off x="12862" y="7377"/>
              <a:ext cx="15" cy="614"/>
            </a:xfrm>
            <a:prstGeom prst="straightConnector1">
              <a:avLst/>
            </a:prstGeom>
            <a:ln>
              <a:tailEnd type="arrow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8" name="Table 7"/>
          <p:cNvGraphicFramePr/>
          <p:nvPr>
            <p:custDataLst>
              <p:tags r:id="rId1"/>
            </p:custDataLst>
          </p:nvPr>
        </p:nvGraphicFramePr>
        <p:xfrm>
          <a:off x="1071880" y="3057525"/>
          <a:ext cx="9630410" cy="33381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30410"/>
              </a:tblGrid>
              <a:tr h="33210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                                          </a:t>
                      </a:r>
                      <a:r>
                        <a:rPr lang="en-US" altLang="en-GB">
                          <a:solidFill>
                            <a:schemeClr val="tx1"/>
                          </a:solidFill>
                        </a:rPr>
                        <a:t>CNN                                           LSTM                                          CNN-LSTM Hybrid   </a:t>
                      </a:r>
                      <a:r>
                        <a:rPr lang="en-US" altLang="en-GB"/>
                        <a:t>              </a:t>
                      </a:r>
                      <a:endParaRPr lang="en-US" altLang="en-GB"/>
                    </a:p>
                  </a:txBody>
                  <a:tcPr marL="0" marR="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7592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        Type                Spatial pattern learning        Temporal sequence model             Dual-stream fusion</a:t>
                      </a:r>
                      <a:endParaRPr lang="en-US" altLang="en-GB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</a:endParaRPr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</a:tr>
              <a:tr h="37592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       Input                           32*10* 1                                     32*512                                        combines both</a:t>
                      </a:r>
                      <a:endParaRPr lang="en-US" altLang="en-GB"/>
                    </a:p>
                  </a:txBody>
                  <a:tcPr marL="0" marR="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7592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       Parameters                470,402                                       140,418                                             330,882</a:t>
                      </a:r>
                      <a:endParaRPr lang="en-US" altLang="en-GB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</a:tr>
              <a:tr h="37528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        Batch Size                      64                                                  64                                                        64</a:t>
                      </a:r>
                      <a:endParaRPr lang="en-US" altLang="en-GB"/>
                    </a:p>
                  </a:txBody>
                  <a:tcPr marL="0" marR="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7592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         Epochs                          60                                                   50                                                       60</a:t>
                      </a:r>
                      <a:endParaRPr lang="en-US" altLang="en-GB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</a:tr>
              <a:tr h="37528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       Early Stop                       12                                                   12                                                       12                 </a:t>
                      </a:r>
                      <a:endParaRPr lang="en-US" altLang="en-GB"/>
                    </a:p>
                  </a:txBody>
                  <a:tcPr marL="0" marR="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7655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     Optimizer                     Adam                                               Adam                                                 Adam</a:t>
                      </a:r>
                      <a:endParaRPr lang="en-US" altLang="en-GB"/>
                    </a:p>
                  </a:txBody>
                  <a:tcPr marL="0" marR="0" marT="0" marB="0">
                    <a:solidFill>
                      <a:schemeClr val="bg1"/>
                    </a:solidFill>
                  </a:tcPr>
                </a:tc>
              </a:tr>
              <a:tr h="37528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        Layers                            16                                                      7                                                        19</a:t>
                      </a:r>
                      <a:endParaRPr lang="en-US" altLang="en-GB"/>
                    </a:p>
                  </a:txBody>
                  <a:tcPr marL="0" marR="0" marT="0" marB="0"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11" name="Text Box 10"/>
          <p:cNvSpPr txBox="1"/>
          <p:nvPr/>
        </p:nvSpPr>
        <p:spPr>
          <a:xfrm>
            <a:off x="83820" y="531495"/>
            <a:ext cx="5501005" cy="70167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>
              <a:buNone/>
            </a:pPr>
            <a:r>
              <a:rPr lang="en-US" sz="2800" b="1" kern="0" spc="2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MODEL ARCHITECTURES</a:t>
            </a:r>
            <a:endParaRPr lang="en-US" altLang="en-US" sz="2800" b="1" kern="0" spc="20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graphicFrame>
        <p:nvGraphicFramePr>
          <p:cNvPr id="2" name="Table 1"/>
          <p:cNvGraphicFramePr/>
          <p:nvPr>
            <p:custDataLst>
              <p:tags r:id="rId2"/>
            </p:custDataLst>
          </p:nvPr>
        </p:nvGraphicFramePr>
        <p:xfrm>
          <a:off x="1165225" y="1289685"/>
          <a:ext cx="9622155" cy="151828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22155"/>
              </a:tblGrid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>
                          <a:solidFill>
                            <a:schemeClr val="tx1"/>
                          </a:solidFill>
                        </a:rPr>
                        <a:t>                                         SVM                                       RF                                                             LDA</a:t>
                      </a:r>
                      <a:endParaRPr lang="en-US" altLang="en-GB">
                        <a:solidFill>
                          <a:schemeClr val="tx1"/>
                        </a:solidFill>
                      </a:endParaRP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Structure             Kernel-based hyperplane        decision trees                                   Linear projection</a:t>
                      </a:r>
                      <a:endParaRPr lang="en-US" altLang="en-GB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  <a:tr h="36576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/>
                        <a:t>  Input                  160-dim band power             160-dim band power                       160-dim band </a:t>
                      </a:r>
                      <a:r>
                        <a:rPr lang="en-US" altLang="en-GB" sz="1800">
                          <a:sym typeface="+mn-ea"/>
                        </a:rPr>
                        <a:t>power  </a:t>
                      </a:r>
                      <a:endParaRPr lang="en-US" altLang="en-GB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42100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en-GB" sz="1800">
                          <a:sym typeface="+mn-ea"/>
                        </a:rPr>
                        <a:t> </a:t>
                      </a:r>
                      <a:endParaRPr lang="en-GB" altLang="en-US"/>
                    </a:p>
                  </a:txBody>
                  <a:tcPr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rcRect t="3648" r="48550" b="47565"/>
          <a:stretch>
            <a:fillRect/>
          </a:stretch>
        </p:blipFill>
        <p:spPr>
          <a:xfrm>
            <a:off x="6249670" y="0"/>
            <a:ext cx="5942330" cy="3428365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519430" y="1218565"/>
            <a:ext cx="5321935" cy="2032635"/>
          </a:xfrm>
          <a:prstGeom prst="rect">
            <a:avLst/>
          </a:prstGeom>
        </p:spPr>
        <p:txBody>
          <a:bodyPr>
            <a:noAutofit/>
          </a:bodyPr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sz="2000">
                <a:solidFill>
                  <a:schemeClr val="tx1"/>
                </a:solidFill>
              </a:rPr>
              <a:t>CNN outperforms all classical models </a:t>
            </a:r>
            <a:r>
              <a:rPr lang="en-US" sz="2000">
                <a:solidFill>
                  <a:schemeClr val="tx1"/>
                </a:solidFill>
              </a:rPr>
              <a:t>-</a:t>
            </a:r>
            <a:r>
              <a:rPr sz="2000">
                <a:solidFill>
                  <a:schemeClr val="tx1"/>
                </a:solidFill>
              </a:rPr>
              <a:t>65.5% vs SVM 60.9%, RF 62.5%, LDA 59.8%</a:t>
            </a:r>
            <a:endParaRPr sz="2000">
              <a:solidFill>
                <a:schemeClr val="tx1"/>
              </a:solidFill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sz="2000">
                <a:solidFill>
                  <a:schemeClr val="tx1"/>
                </a:solidFill>
              </a:rPr>
              <a:t>Weighted Ensemble of all 7 models achieves the best result at 67.0%</a:t>
            </a:r>
            <a:endParaRPr sz="2000">
              <a:solidFill>
                <a:schemeClr val="tx1"/>
              </a:solidFill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GB" sz="2000">
                <a:solidFill>
                  <a:schemeClr val="tx1"/>
                </a:solidFill>
                <a:sym typeface="+mn-ea"/>
              </a:rPr>
              <a:t>Dropout, EarlyStopping, and class weighting used to control overfitting</a:t>
            </a:r>
            <a:endParaRPr lang="en-US" altLang="en-GB" sz="2000">
              <a:solidFill>
                <a:schemeClr val="tx1"/>
              </a:solidFill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sz="2000">
                <a:solidFill>
                  <a:schemeClr val="tx1"/>
                </a:solidFill>
                <a:sym typeface="+mn-ea"/>
              </a:rPr>
              <a:t>LSTM converges faster but p</a:t>
            </a:r>
            <a:r>
              <a:rPr lang="en-US" sz="2000">
                <a:solidFill>
                  <a:schemeClr val="tx1"/>
                </a:solidFill>
                <a:sym typeface="+mn-ea"/>
              </a:rPr>
              <a:t>eak</a:t>
            </a:r>
            <a:r>
              <a:rPr sz="2000">
                <a:solidFill>
                  <a:schemeClr val="tx1"/>
                </a:solidFill>
                <a:sym typeface="+mn-ea"/>
              </a:rPr>
              <a:t>s earlier </a:t>
            </a:r>
            <a:r>
              <a:rPr lang="en-US" sz="2000">
                <a:solidFill>
                  <a:schemeClr val="tx1"/>
                </a:solidFill>
                <a:sym typeface="+mn-ea"/>
              </a:rPr>
              <a:t>-  </a:t>
            </a:r>
            <a:r>
              <a:rPr sz="2000">
                <a:solidFill>
                  <a:schemeClr val="tx1"/>
                </a:solidFill>
                <a:sym typeface="+mn-ea"/>
              </a:rPr>
              <a:t>CNN learns </a:t>
            </a:r>
            <a:r>
              <a:rPr lang="en-US" sz="2000">
                <a:solidFill>
                  <a:schemeClr val="tx1"/>
                </a:solidFill>
                <a:sym typeface="+mn-ea"/>
              </a:rPr>
              <a:t>complex </a:t>
            </a:r>
            <a:r>
              <a:rPr sz="2000">
                <a:solidFill>
                  <a:schemeClr val="tx1"/>
                </a:solidFill>
                <a:sym typeface="+mn-ea"/>
              </a:rPr>
              <a:t>spatial features</a:t>
            </a:r>
            <a:endParaRPr sz="2000">
              <a:solidFill>
                <a:schemeClr val="tx1"/>
              </a:solidFill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sz="2000">
              <a:solidFill>
                <a:schemeClr val="tx1"/>
              </a:solidFill>
            </a:endParaRPr>
          </a:p>
        </p:txBody>
      </p:sp>
      <p:sp>
        <p:nvSpPr>
          <p:cNvPr id="5" name="Text Box 4"/>
          <p:cNvSpPr txBox="1"/>
          <p:nvPr/>
        </p:nvSpPr>
        <p:spPr>
          <a:xfrm>
            <a:off x="745490" y="434340"/>
            <a:ext cx="40640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2800" b="1">
                <a:latin typeface="Times New Roman" panose="02020603050405020304" charset="0"/>
                <a:cs typeface="Times New Roman" panose="02020603050405020304" charset="0"/>
              </a:rPr>
              <a:t>Data Visualizations</a:t>
            </a:r>
            <a:endParaRPr lang="en-US" altLang="en-GB" sz="28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 t="52028" r="49692"/>
          <a:stretch>
            <a:fillRect/>
          </a:stretch>
        </p:blipFill>
        <p:spPr>
          <a:xfrm>
            <a:off x="6249035" y="3428365"/>
            <a:ext cx="5942965" cy="3429635"/>
          </a:xfrm>
          <a:prstGeom prst="rect">
            <a:avLst/>
          </a:prstGeom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rcRect l="50727" t="5139" b="47435"/>
          <a:stretch>
            <a:fillRect/>
          </a:stretch>
        </p:blipFill>
        <p:spPr>
          <a:xfrm>
            <a:off x="6556375" y="86360"/>
            <a:ext cx="5635625" cy="2889885"/>
          </a:xfrm>
          <a:prstGeom prst="rect">
            <a:avLst/>
          </a:prstGeom>
        </p:spPr>
      </p:pic>
      <p:sp>
        <p:nvSpPr>
          <p:cNvPr id="4" name="Text Box 3"/>
          <p:cNvSpPr txBox="1"/>
          <p:nvPr/>
        </p:nvSpPr>
        <p:spPr>
          <a:xfrm>
            <a:off x="468630" y="1358265"/>
            <a:ext cx="5441950" cy="1993265"/>
          </a:xfrm>
          <a:prstGeom prst="rect">
            <a:avLst/>
          </a:prstGeom>
        </p:spPr>
        <p:txBody>
          <a:bodyPr>
            <a:noAutofit/>
          </a:bodyPr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t>Model correctly identifies High Arousal better (2,652) than Low Arousal (2,495)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/>
              <a:t>High Arousal -</a:t>
            </a:r>
            <a:r>
              <a:rPr lang="en-US" altLang="en-GB"/>
              <a:t>excited or alert.</a:t>
            </a:r>
            <a:r>
              <a:rPr lang="en-US"/>
              <a:t>Low Arousal -</a:t>
            </a:r>
            <a:r>
              <a:rPr lang="en-US" altLang="en-GB"/>
              <a:t> the brain is less active. </a:t>
            </a:r>
            <a:endParaRPr lang="en-US" altLang="en-GB"/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>
                <a:sym typeface="+mn-ea"/>
              </a:rPr>
              <a:t>P</a:t>
            </a:r>
            <a:r>
              <a:rPr>
                <a:sym typeface="+mn-ea"/>
              </a:rPr>
              <a:t>ositive (29.3%) is the most predicted state, Calm (20.8%) the least</a:t>
            </a:r>
            <a:r>
              <a:rPr lang="en-US">
                <a:sym typeface="+mn-ea"/>
              </a:rPr>
              <a:t>.</a:t>
            </a:r>
            <a:endParaRPr lang="en-US">
              <a:sym typeface="+mn-ea"/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t> </a:t>
            </a:r>
            <a:r>
              <a:rPr>
                <a:sym typeface="+mn-ea"/>
              </a:rPr>
              <a:t>All 4 states are meaningfully represented </a:t>
            </a:r>
            <a:r>
              <a:rPr lang="en-US">
                <a:sym typeface="+mn-ea"/>
              </a:rPr>
              <a:t>-</a:t>
            </a:r>
            <a:r>
              <a:rPr lang="en-US" altLang="en-GB">
                <a:sym typeface="+mn-ea"/>
              </a:rPr>
              <a:t> model doesn't collapse to predicting one class repeatedly, which means the circumplex mapping is working.</a:t>
            </a:r>
            <a:endParaRPr lang="en-US" altLang="en-GB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rcRect l="50004" t="52296"/>
          <a:stretch>
            <a:fillRect/>
          </a:stretch>
        </p:blipFill>
        <p:spPr>
          <a:xfrm>
            <a:off x="6556375" y="2975610"/>
            <a:ext cx="5613400" cy="3882390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543560" y="405130"/>
            <a:ext cx="406400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GB" sz="28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Data Visualizations</a:t>
            </a:r>
            <a:endParaRPr lang="en-US" altLang="en-GB" sz="2800" b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  <a:p>
            <a:endParaRPr lang="en-GB" altLang="en-US" sz="280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4519930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60960" y="4697095"/>
            <a:ext cx="11744960" cy="1388745"/>
          </a:xfrm>
          <a:prstGeom prst="rect">
            <a:avLst/>
          </a:prstGeom>
        </p:spPr>
        <p:txBody>
          <a:bodyPr wrap="square">
            <a:noAutofit/>
          </a:bodyPr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1600" b="1"/>
              <a:t>Gaussian noise(</a:t>
            </a:r>
            <a:r>
              <a:rPr sz="1600" b="1"/>
              <a:t> </a:t>
            </a:r>
            <a:r>
              <a:rPr lang="en-US" sz="1600" b="1"/>
              <a:t>30</a:t>
            </a:r>
            <a:r>
              <a:rPr sz="1600" b="1"/>
              <a:t>%</a:t>
            </a:r>
            <a:r>
              <a:rPr lang="en-US" sz="1600" b="1"/>
              <a:t>) </a:t>
            </a:r>
            <a:r>
              <a:rPr sz="1600"/>
              <a:t> </a:t>
            </a:r>
            <a:r>
              <a:rPr lang="en-US" sz="1600"/>
              <a:t>63.4 % </a:t>
            </a:r>
            <a:r>
              <a:rPr sz="1600">
                <a:solidFill>
                  <a:schemeClr val="tx1"/>
                </a:solidFill>
              </a:rPr>
              <a:t>accuracy under 3 of 4 degradation conditions </a:t>
            </a:r>
            <a:r>
              <a:rPr lang="en-US" sz="1600">
                <a:solidFill>
                  <a:schemeClr val="tx1"/>
                </a:solidFill>
              </a:rPr>
              <a:t>.</a:t>
            </a:r>
            <a:endParaRPr sz="1600">
              <a:solidFill>
                <a:schemeClr val="tx1"/>
              </a:solidFill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sz="1600" b="1">
                <a:solidFill>
                  <a:schemeClr val="tx1"/>
                </a:solidFill>
              </a:rPr>
              <a:t>Missing channels (25%)</a:t>
            </a:r>
            <a:r>
              <a:rPr sz="1600">
                <a:solidFill>
                  <a:schemeClr val="tx1"/>
                </a:solidFill>
              </a:rPr>
              <a:t> caused the biggest drop </a:t>
            </a:r>
            <a:r>
              <a:rPr lang="en-US" sz="1600">
                <a:solidFill>
                  <a:schemeClr val="tx1"/>
                </a:solidFill>
              </a:rPr>
              <a:t>-</a:t>
            </a:r>
            <a:r>
              <a:rPr sz="1600">
                <a:solidFill>
                  <a:schemeClr val="tx1"/>
                </a:solidFill>
              </a:rPr>
              <a:t> 56.8% accuracy, 9.8% drop </a:t>
            </a:r>
            <a:r>
              <a:rPr lang="en-US" sz="1600">
                <a:solidFill>
                  <a:schemeClr val="tx1"/>
                </a:solidFill>
              </a:rPr>
              <a:t>-</a:t>
            </a:r>
            <a:r>
              <a:rPr sz="1600">
                <a:solidFill>
                  <a:schemeClr val="tx1"/>
                </a:solidFill>
              </a:rPr>
              <a:t> losing electrode</a:t>
            </a:r>
            <a:endParaRPr sz="1600">
              <a:solidFill>
                <a:schemeClr val="tx1"/>
              </a:solidFill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sz="1600" b="1">
                <a:solidFill>
                  <a:schemeClr val="tx1"/>
                </a:solidFill>
              </a:rPr>
              <a:t>Incomplete recording (60%) </a:t>
            </a:r>
            <a:r>
              <a:rPr sz="1600">
                <a:solidFill>
                  <a:schemeClr val="tx1"/>
                </a:solidFill>
              </a:rPr>
              <a:t>was most robust </a:t>
            </a:r>
            <a:r>
              <a:rPr lang="en-US" sz="1600">
                <a:solidFill>
                  <a:schemeClr val="tx1"/>
                </a:solidFill>
              </a:rPr>
              <a:t>-</a:t>
            </a:r>
            <a:r>
              <a:rPr sz="1600">
                <a:solidFill>
                  <a:schemeClr val="tx1"/>
                </a:solidFill>
              </a:rPr>
              <a:t> only 1.7% drop, model handles truncated signals well</a:t>
            </a:r>
            <a:endParaRPr sz="1600">
              <a:solidFill>
                <a:schemeClr val="tx1"/>
              </a:solidFill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en-GB" sz="1600" b="1">
                <a:solidFill>
                  <a:schemeClr val="tx1"/>
                </a:solidFill>
              </a:rPr>
              <a:t>Distorted input (30%) </a:t>
            </a:r>
            <a:r>
              <a:rPr lang="en-US" altLang="en-GB" sz="1600">
                <a:solidFill>
                  <a:schemeClr val="tx1"/>
                </a:solidFill>
              </a:rPr>
              <a:t>63.1% accuracy, only 3.5% drop — model handles feature corruption well</a:t>
            </a:r>
            <a:endParaRPr lang="en-US" altLang="en-GB" sz="1600">
              <a:solidFill>
                <a:schemeClr val="tx1"/>
              </a:solidFill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en-GB" sz="160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1520825" y="4387850"/>
            <a:ext cx="5618480" cy="2098675"/>
          </a:xfrm>
          <a:prstGeom prst="rect">
            <a:avLst/>
          </a:prstGeom>
        </p:spPr>
        <p:txBody>
          <a:bodyPr wrap="square">
            <a:noAutofit/>
          </a:bodyPr>
          <a:p>
            <a:pPr>
              <a:lnSpc>
                <a:spcPct val="200000"/>
              </a:lnSpc>
              <a:buFont typeface="Arial" panose="020B0604020202020204"/>
              <a:buChar char="•"/>
            </a:pPr>
            <a:r>
              <a:rPr>
                <a:solidFill>
                  <a:schemeClr val="tx1"/>
                </a:solidFill>
              </a:rPr>
              <a:t>Real-time EEG prediction pipeline</a:t>
            </a:r>
            <a:endParaRPr>
              <a:solidFill>
                <a:schemeClr val="tx1"/>
              </a:solidFill>
            </a:endParaRPr>
          </a:p>
          <a:p>
            <a:pPr>
              <a:lnSpc>
                <a:spcPct val="200000"/>
              </a:lnSpc>
              <a:buFont typeface="Arial" panose="020B0604020202020204"/>
              <a:buChar char="•"/>
            </a:pPr>
            <a:r>
              <a:rPr>
                <a:solidFill>
                  <a:schemeClr val="tx1"/>
                </a:solidFill>
              </a:rPr>
              <a:t>Multi-dataset generalization testing</a:t>
            </a:r>
            <a:endParaRPr>
              <a:solidFill>
                <a:schemeClr val="tx1"/>
              </a:solidFill>
            </a:endParaRPr>
          </a:p>
          <a:p>
            <a:pPr>
              <a:lnSpc>
                <a:spcPct val="200000"/>
              </a:lnSpc>
              <a:buFont typeface="Arial" panose="020B0604020202020204"/>
              <a:buChar char="•"/>
            </a:pPr>
            <a:r>
              <a:rPr>
                <a:solidFill>
                  <a:schemeClr val="tx1"/>
                </a:solidFill>
              </a:rPr>
              <a:t>Extend to full emotion prediction beyond binary arousal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1177290" y="1369695"/>
            <a:ext cx="9112885" cy="1902460"/>
          </a:xfrm>
          <a:prstGeom prst="rect">
            <a:avLst/>
          </a:prstGeom>
        </p:spPr>
        <p:txBody>
          <a:bodyPr wrap="square">
            <a:noAutofit/>
          </a:bodyPr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>
                <a:solidFill>
                  <a:schemeClr val="tx1"/>
                </a:solidFill>
              </a:rPr>
              <a:t>Weighted Ensemble of 7 models achieved best accuracy of 67.0%</a:t>
            </a:r>
            <a:endParaRPr>
              <a:solidFill>
                <a:schemeClr val="tx1"/>
              </a:solidFill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>
                <a:solidFill>
                  <a:schemeClr val="tx1"/>
                </a:solidFill>
              </a:rPr>
              <a:t>CNN outperformed all classical models </a:t>
            </a:r>
            <a:r>
              <a:rPr lang="en-US">
                <a:solidFill>
                  <a:schemeClr val="tx1"/>
                </a:solidFill>
              </a:rPr>
              <a:t>-</a:t>
            </a:r>
            <a:r>
              <a:rPr>
                <a:solidFill>
                  <a:schemeClr val="tx1"/>
                </a:solidFill>
              </a:rPr>
              <a:t> deep learning captures EEG patterns better</a:t>
            </a:r>
            <a:endParaRPr>
              <a:solidFill>
                <a:schemeClr val="tx1"/>
              </a:solidFill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>
                <a:solidFill>
                  <a:schemeClr val="tx1"/>
                </a:solidFill>
              </a:rPr>
              <a:t>System stayed robust under noise and degraded signals</a:t>
            </a:r>
            <a:endParaRPr>
              <a:solidFill>
                <a:schemeClr val="tx1"/>
              </a:solidFill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>
                <a:solidFill>
                  <a:schemeClr val="tx1"/>
                </a:solidFill>
              </a:rPr>
              <a:t>Successfully mapped EEG signals to 4 cognitive states: Positive, Stressed, Fatigued, Calm</a:t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649605" y="3724275"/>
            <a:ext cx="406400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sz="28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Future Work</a:t>
            </a:r>
            <a:endParaRPr sz="2800" b="1">
              <a:latin typeface="Times New Roman" panose="02020603050405020304" charset="0"/>
              <a:cs typeface="Times New Roman" panose="02020603050405020304" charset="0"/>
            </a:endParaRPr>
          </a:p>
          <a:p>
            <a:endParaRPr lang="en-GB" altLang="en-US" sz="2800"/>
          </a:p>
        </p:txBody>
      </p:sp>
      <p:sp>
        <p:nvSpPr>
          <p:cNvPr id="5" name="Text Box 4"/>
          <p:cNvSpPr txBox="1"/>
          <p:nvPr/>
        </p:nvSpPr>
        <p:spPr>
          <a:xfrm>
            <a:off x="649605" y="580073"/>
            <a:ext cx="5080000" cy="521970"/>
          </a:xfrm>
          <a:prstGeom prst="rect">
            <a:avLst/>
          </a:prstGeom>
        </p:spPr>
        <p:txBody>
          <a:bodyPr>
            <a:spAutoFit/>
          </a:bodyPr>
          <a:p>
            <a:r>
              <a:rPr sz="2800" b="1">
                <a:latin typeface="Times New Roman" panose="02020603050405020304" charset="0"/>
                <a:cs typeface="Times New Roman" panose="02020603050405020304" charset="0"/>
              </a:rPr>
              <a:t>Conclusion</a:t>
            </a:r>
            <a:endParaRPr sz="28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758*233"/>
  <p:tag name="TABLE_ENDDRAG_RECT" val="81*128*758*233"/>
</p:tagLst>
</file>

<file path=ppt/tags/tag2.xml><?xml version="1.0" encoding="utf-8"?>
<p:tagLst xmlns:p="http://schemas.openxmlformats.org/presentationml/2006/main">
  <p:tag name="TABLE_ENDDRAG_ORIGIN_RECT" val="757*89"/>
  <p:tag name="TABLE_ENDDRAG_RECT" val="91*101*757*89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5261</Words>
  <Application>WPS Presentation</Application>
  <PresentationFormat>Widescreen</PresentationFormat>
  <Paragraphs>174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7" baseType="lpstr">
      <vt:lpstr>Arial</vt:lpstr>
      <vt:lpstr>SimSun</vt:lpstr>
      <vt:lpstr>Wingdings</vt:lpstr>
      <vt:lpstr>Times New Roman</vt:lpstr>
      <vt:lpstr>Calibri Light</vt:lpstr>
      <vt:lpstr>Calibri</vt:lpstr>
      <vt:lpstr>Calibri</vt:lpstr>
      <vt:lpstr>Calibri</vt:lpstr>
      <vt:lpstr>CIDFont</vt:lpstr>
      <vt:lpstr>Segoe Print</vt:lpstr>
      <vt:lpstr>Wingdings</vt:lpstr>
      <vt:lpstr>Courier Prime</vt:lpstr>
      <vt:lpstr>Arial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Asritha</cp:lastModifiedBy>
  <cp:revision>43</cp:revision>
  <dcterms:created xsi:type="dcterms:W3CDTF">2025-07-23T00:59:00Z</dcterms:created>
  <dcterms:modified xsi:type="dcterms:W3CDTF">2026-05-03T22:49:56Z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B8513520C2E84C9CBBC526A638D9C8E9_13</vt:lpwstr>
  </property>
  <property fmtid="{D5CDD505-2E9C-101B-9397-08002B2CF9AE}" pid="3" name="KSOProductBuildVer">
    <vt:lpwstr>2057-12.2.0.23202</vt:lpwstr>
  </property>
</Properties>
</file>